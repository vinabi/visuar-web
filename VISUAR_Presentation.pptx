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023360" cy="4023360"/>
          </a:xfrm>
          <a:prstGeom prst="ellipse">
            <a:avLst/>
          </a:prstGeom>
          <a:solidFill>
            <a:srgbClr val="0E749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0E749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4754880"/>
            <a:ext cx="2743200" cy="2743200"/>
          </a:xfrm>
          <a:prstGeom prst="ellipse">
            <a:avLst/>
          </a:prstGeom>
          <a:solidFill>
            <a:srgbClr val="0E749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234440"/>
            <a:ext cx="868680" cy="868680"/>
          </a:xfrm>
          <a:prstGeom prst="ellipse">
            <a:avLst/>
          </a:prstGeom>
          <a:noFill/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1481328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0" b="1">
                <a:solidFill>
                  <a:srgbClr val="FFFFFF"/>
                </a:solidFill>
                <a:latin typeface="Calibri"/>
              </a:rPr>
              <a:t>VISU</a:t>
            </a:r>
            <a:r>
              <a:rPr sz="7800" b="1">
                <a:solidFill>
                  <a:srgbClr val="22D3EE"/>
                </a:solidFill>
                <a:latin typeface="Calibri"/>
              </a:rPr>
              <a:t>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BE8F2"/>
                </a:solidFill>
                <a:latin typeface="Calibri"/>
              </a:rPr>
              <a:t>See Beyond — screen-based vision screening for any laptop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FC4D4"/>
                </a:solidFill>
                <a:latin typeface="Calibri"/>
              </a:rPr>
              <a:t>Estimate distance &amp; near eyesight numbers, run clinical-style refraction tests, and get AI-powered guidance — all from a browser with a webcam.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257800"/>
            <a:ext cx="1408176" cy="384048"/>
          </a:xfrm>
          <a:prstGeom prst="roundRect">
            <a:avLst/>
          </a:prstGeom>
          <a:noFill/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React + Vite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1448" y="5257800"/>
            <a:ext cx="928116" cy="384048"/>
          </a:xfrm>
          <a:prstGeom prst="roundRect">
            <a:avLst/>
          </a:prstGeom>
          <a:noFill/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4156" y="5257800"/>
            <a:ext cx="1408176" cy="384048"/>
          </a:xfrm>
          <a:prstGeom prst="roundRect">
            <a:avLst/>
          </a:prstGeom>
          <a:noFill/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MediaPipe 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6924" y="5257800"/>
            <a:ext cx="2080260" cy="384048"/>
          </a:xfrm>
          <a:prstGeom prst="roundRect">
            <a:avLst/>
          </a:prstGeom>
          <a:noFill/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Supabase + pgvector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1775" y="5257800"/>
            <a:ext cx="1216152" cy="384048"/>
          </a:xfrm>
          <a:prstGeom prst="roundRect">
            <a:avLst/>
          </a:prstGeom>
          <a:noFill/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Gemini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CA9BC"/>
                </a:solidFill>
                <a:latin typeface="Calibri"/>
              </a:rPr>
              <a:t>www.visuar-web.app   ·  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WHY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Project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A real eye exam needs a 6-metre room, calibrated charts, trial lenses, and a professional. Most people skip checks until vision is badly degraded. VISUAR asks: how much of that screening can a laptop + webcam responsibly do?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679192" cy="214884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82296" cy="21488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42616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Access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44952"/>
            <a:ext cx="231343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Eye care is hard to reach, costly, and time-consuming. Routine screening gets postponed for years.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2514600"/>
            <a:ext cx="2679192" cy="214884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2424" y="2514600"/>
            <a:ext cx="82296" cy="2148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642616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Screen-era eyes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044952"/>
            <a:ext cx="231343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Heavy screen use drives myopia, eye strain and fatigue — yet few tools track vision at home.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514600"/>
            <a:ext cx="2679192" cy="214884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2514600"/>
            <a:ext cx="82296" cy="2148840"/>
          </a:xfrm>
          <a:prstGeom prst="rect">
            <a:avLst/>
          </a:prstGeom>
          <a:solidFill>
            <a:srgbClr val="10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642616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Clinic → laptop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044952"/>
            <a:ext cx="231343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Adapt the optometry workflow to a 60–80 cm screen using PPI calibration and webcam distance gating.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2" y="2514600"/>
            <a:ext cx="2679192" cy="214884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9992" y="2514600"/>
            <a:ext cx="82296" cy="21488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642616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Screen, don't diagnose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044952"/>
            <a:ext cx="231343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Give an approximate, honest number that nudges users to see a professional when needed.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83480"/>
            <a:ext cx="11091672" cy="96012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1400" b="1">
                <a:solidFill>
                  <a:srgbClr val="0E7490"/>
                </a:solidFill>
                <a:latin typeface="Calibri"/>
              </a:rPr>
              <a:t>Goal:  </a:t>
            </a:r>
            <a:r>
              <a:rPr sz="1400" b="0">
                <a:solidFill>
                  <a:srgbClr val="334155"/>
                </a:solidFill>
                <a:latin typeface="Calibri"/>
              </a:rPr>
              <a:t>a full screening platform — onboarding, real-time vision gating, diopter estimates, PDF reports, and an AI consultant — that is approximate by design and never replaces a clinical exam.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334155"/>
                </a:solidFill>
                <a:latin typeface="Calibri"/>
              </a:rPr>
              <a:t>VISUAR is a web platform that brings optometry-style checks to any laptop using three core ideas working together: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356616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82296" cy="1783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6829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1 · PPI 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User matches an on-screen box to a credit card (85.6 mm ISO). Now we know exactly how many pixels equal one millimetre on THIS display.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2240280"/>
            <a:ext cx="356616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2240280"/>
            <a:ext cx="82296" cy="1783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36829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2 · Viewing-distance 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770632"/>
            <a:ext cx="3200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Acuity is about visual angle, not size. Letter heights are recomputed from 70 cm geometry so the same angle reaches the eye.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2240280"/>
            <a:ext cx="356616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2240280"/>
            <a:ext cx="82296" cy="1783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236829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3 · Webcam as clinical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770632"/>
            <a:ext cx="3200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MediaPipe face landmarks + a focal-length model verify face presence, 60–80 cm range, and monocular eye-cover before a test runs.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Calibri"/>
              </a:rPr>
              <a:t>Delivered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06B6D4"/>
                </a:solidFill>
              </a:rPr>
              <a:t>›  </a:t>
            </a:r>
            <a:r>
              <a:rPr sz="1250" b="1">
                <a:solidFill>
                  <a:srgbClr val="0F1B2D"/>
                </a:solidFill>
              </a:rPr>
              <a:t>10 vision tests: Snellen, Jaeger, Landolt C, contrast, colour, duochrome, refraction simulator &amp; battery, near–far, blur screener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06B6D4"/>
                </a:solidFill>
              </a:rPr>
              <a:t>›  </a:t>
            </a:r>
            <a:r>
              <a:rPr sz="1250" b="1">
                <a:solidFill>
                  <a:srgbClr val="0F1B2D"/>
                </a:solidFill>
              </a:rPr>
              <a:t>Live webcam gating — face / distance / eye-state / glasses detection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06B6D4"/>
                </a:solidFill>
              </a:rPr>
              <a:t>›  </a:t>
            </a:r>
            <a:r>
              <a:rPr sz="1250" b="1">
                <a:solidFill>
                  <a:srgbClr val="0F1B2D"/>
                </a:solidFill>
              </a:rPr>
              <a:t>Approximate diopter estimates + session fusion + downloadable PDF report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06B6D4"/>
                </a:solidFill>
              </a:rPr>
              <a:t>›  </a:t>
            </a:r>
            <a:r>
              <a:rPr sz="1250" b="1">
                <a:solidFill>
                  <a:srgbClr val="0F1B2D"/>
                </a:solidFill>
              </a:rPr>
              <a:t>AI consultant — profile-aware chat with RAG (Gemini + pgvector), voice I/O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06B6D4"/>
                </a:solidFill>
              </a:rPr>
              <a:t>›  </a:t>
            </a:r>
            <a:r>
              <a:rPr sz="1250" b="1">
                <a:solidFill>
                  <a:srgbClr val="0F1B2D"/>
                </a:solidFill>
              </a:rPr>
              <a:t>Supabase auth &amp; onboarding · Free/Basic/Pro plans (Stripe) · EN + Urdu (RTL)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611880" cy="448056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548640" y="1600200"/>
            <a:ext cx="3611880" cy="548640"/>
          </a:xfrm>
          <a:prstGeom prst="round2Same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3172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6B6D4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React 18 + Vite 5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6B6D4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React Router v6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6B6D4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Tailwind CSS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6B6D4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Supabase JS client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6B6D4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Axios · i18next (EN/UR)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6B6D4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Stripe Elements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6B6D4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jsPDF report export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6B6D4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ElevenLabs TTS · Web Speech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00200"/>
            <a:ext cx="3611880" cy="448056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325112" y="1600200"/>
            <a:ext cx="3611880" cy="548640"/>
          </a:xfrm>
          <a:prstGeom prst="round2SameRect">
            <a:avLst/>
          </a:prstGeom>
          <a:solidFill>
            <a:srgbClr val="10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33172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10919A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FastAPI + Uvicorn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919A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SQLAlchemy (async)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919A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Supabase JWT auth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919A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OpenCV + MediaPipe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919A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Face Landmarker model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919A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Google Gemini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919A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LangChain + pgvector RAG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919A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aiosmtplib (email)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600200"/>
            <a:ext cx="3611880" cy="448056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8101583" y="1600200"/>
            <a:ext cx="3611880" cy="548640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 &amp; 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3172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6D28D9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PostgreSQL (Supabase)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6D28D9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pgvector embeddings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6D28D9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Vercel — frontend SPA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6D28D9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Hugging Face Spaces — API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6D28D9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Docker (HF Space)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6D28D9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WebSocket /ws/vision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6D28D9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Stripe billing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6D28D9"/>
                </a:solidFill>
              </a:rPr>
              <a:t>•  </a:t>
            </a:r>
            <a:r>
              <a:rPr sz="1250">
                <a:solidFill>
                  <a:srgbClr val="334155"/>
                </a:solidFill>
              </a:rPr>
              <a:t>Gmail SMTP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DIAGRAM ·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Architecture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200400" cy="3291840"/>
          </a:xfrm>
          <a:prstGeom prst="roundRect">
            <a:avLst/>
          </a:prstGeom>
          <a:solidFill>
            <a:srgbClr val="ECFAFE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BROWSER  (React + Vite)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2743200" cy="5486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Pages &amp; Test Engines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298448" cy="54864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PPI Calibrator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76272" y="2788920"/>
            <a:ext cx="1298448" cy="54864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Webcam Preview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2743200" cy="50292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Results · PDF · AI Chat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600200"/>
            <a:ext cx="3703320" cy="406908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69164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8B6B"/>
                </a:solidFill>
                <a:latin typeface="Calibri"/>
              </a:rPr>
              <a:t>FASTAPI  (Hugging Face Spaces)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103120"/>
            <a:ext cx="3246120" cy="502920"/>
          </a:xfrm>
          <a:prstGeom prst="roundRect">
            <a:avLst/>
          </a:prstGeom>
          <a:solidFill>
            <a:srgbClr val="10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2743200"/>
            <a:ext cx="3246120" cy="502920"/>
          </a:xfrm>
          <a:prstGeom prst="roundRect">
            <a:avLst/>
          </a:prstGeom>
          <a:solidFill>
            <a:srgbClr val="10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WebSocket  /ws/vision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429000"/>
            <a:ext cx="1572768" cy="868680"/>
          </a:xfrm>
          <a:prstGeom prst="roundRect">
            <a:avLst/>
          </a:prstGeom>
          <a:solidFill>
            <a:srgbClr val="238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Vision Module
MediaPipe + OpenCV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3429000"/>
            <a:ext cx="1572768" cy="86868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 Chat + RAG
(Gemini)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4480560"/>
            <a:ext cx="3246120" cy="50292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Email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600200"/>
            <a:ext cx="2331720" cy="4069080"/>
          </a:xfrm>
          <a:prstGeom prst="roundRect">
            <a:avLst/>
          </a:prstGeom>
          <a:solidFill>
            <a:srgbClr val="F5F3FF"/>
          </a:solidFill>
          <a:ln w="15875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8" y="16916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Calibri"/>
              </a:rPr>
              <a:t>SUPABASE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103120"/>
            <a:ext cx="2057400" cy="73152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Auth (JWT)</a:t>
            </a:r>
          </a:p>
        </p:txBody>
      </p:sp>
      <p:sp>
        <p:nvSpPr>
          <p:cNvPr id="24" name="Can 23"/>
          <p:cNvSpPr/>
          <p:nvPr/>
        </p:nvSpPr>
        <p:spPr>
          <a:xfrm>
            <a:off x="9464040" y="3017520"/>
            <a:ext cx="2057400" cy="1097280"/>
          </a:xfrm>
          <a:prstGeom prst="can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PostgreSQL
+ pgvector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474720" y="2350008"/>
            <a:ext cx="1417320" cy="27432"/>
          </a:xfrm>
          <a:prstGeom prst="line">
            <a:avLst/>
          </a:prstGeom>
          <a:ln w="25400">
            <a:solidFill>
              <a:srgbClr val="0E7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66160" y="1993392"/>
            <a:ext cx="1280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alibri"/>
              </a:rPr>
              <a:t>HTTPS + JWT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474720" y="2990088"/>
            <a:ext cx="1417320" cy="73152"/>
          </a:xfrm>
          <a:prstGeom prst="line">
            <a:avLst/>
          </a:prstGeom>
          <a:ln w="25400">
            <a:solidFill>
              <a:srgbClr val="0E7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566160" y="3108960"/>
            <a:ext cx="1280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Calibri"/>
              </a:rPr>
              <a:t>WS frames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38160" y="2350008"/>
            <a:ext cx="1325880" cy="27432"/>
          </a:xfrm>
          <a:prstGeom prst="line">
            <a:avLst/>
          </a:prstGeom>
          <a:ln w="25400">
            <a:solidFill>
              <a:srgbClr val="1091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138160" y="3291840"/>
            <a:ext cx="1325880" cy="36576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55279" y="3749039"/>
            <a:ext cx="16459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6D28D9"/>
                </a:solidFill>
                <a:latin typeface="Calibri"/>
              </a:rPr>
              <a:t>SQL · vectors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56880"/>
                </a:solidFill>
                <a:latin typeface="Calibri"/>
              </a:rPr>
              <a:t>Frontend (Vercel) talks to FastAPI (HF Spaces) over HTTPS+JWT for tests/AI and over WebSocket for real-time webcam frames. Supabase handles auth + Postgres (with pgvector for RAG).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DIAGRAM · ENTITY RELATIONSHIP (ERD)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Database Schema — ERD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06</a:t>
            </a:r>
          </a:p>
        </p:txBody>
      </p:sp>
      <p:pic>
        <p:nvPicPr>
          <p:cNvPr id="8" name="Picture 7" descr="dia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716" y="1463040"/>
            <a:ext cx="7100262" cy="4736592"/>
          </a:xfrm>
          <a:prstGeom prst="rect">
            <a:avLst/>
          </a:prstGeom>
          <a:ln w="12700">
            <a:solidFill>
              <a:srgbClr val="D6E6EE"/>
            </a:solidFill>
          </a:ln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6880"/>
                </a:solidFill>
                <a:latin typeface="Calibri"/>
              </a:rPr>
              <a:t>Crow's-foot ERD · 7 tables · all FKs ON DELETE CASCADE · pgvector knowledge base is standalone for RAG.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DIAGRAM · DATA FLOW (LEVEL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Data Flow — Context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07</a:t>
            </a:r>
          </a:p>
        </p:txBody>
      </p:sp>
      <p:pic>
        <p:nvPicPr>
          <p:cNvPr id="8" name="Picture 7" descr="dia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532" y="1463040"/>
            <a:ext cx="5918629" cy="4736592"/>
          </a:xfrm>
          <a:prstGeom prst="rect">
            <a:avLst/>
          </a:prstGeom>
          <a:ln w="12700">
            <a:solidFill>
              <a:srgbClr val="D6E6EE"/>
            </a:solidFill>
          </a:ln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6880"/>
                </a:solidFill>
                <a:latin typeface="Calibri"/>
              </a:rPr>
              <a:t>Level-0 DFD: VISUAR as a single process (P0) with all external entities and high-level data 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DIAGRAM · DATA FLOW (LEVEL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Data Flow — Level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08</a:t>
            </a:r>
          </a:p>
        </p:txBody>
      </p:sp>
      <p:pic>
        <p:nvPicPr>
          <p:cNvPr id="8" name="Picture 7" descr="dia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403" y="1463040"/>
            <a:ext cx="7104888" cy="4736592"/>
          </a:xfrm>
          <a:prstGeom prst="rect">
            <a:avLst/>
          </a:prstGeom>
          <a:ln w="12700">
            <a:solidFill>
              <a:srgbClr val="D6E6EE"/>
            </a:solidFill>
          </a:ln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6880"/>
                </a:solidFill>
                <a:latin typeface="Calibri"/>
              </a:rPr>
              <a:t>Level-1 DFD: 8 processes, 5 external entities and 7 data stores with request/response 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DIAGRAM ·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Sequence — Vision Test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09</a:t>
            </a:r>
          </a:p>
        </p:txBody>
      </p:sp>
      <p:pic>
        <p:nvPicPr>
          <p:cNvPr id="8" name="Picture 7" descr="dia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403" y="1463040"/>
            <a:ext cx="7104888" cy="4736592"/>
          </a:xfrm>
          <a:prstGeom prst="rect">
            <a:avLst/>
          </a:prstGeom>
          <a:ln w="12700">
            <a:solidFill>
              <a:srgbClr val="D6E6EE"/>
            </a:solidFill>
          </a:ln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6880"/>
                </a:solidFill>
                <a:latin typeface="Calibri"/>
              </a:rPr>
              <a:t>End-to-end session: auth → onboarding → PPI calibration → live WebSocket gating loop → AI analysis → persist &amp; notify.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DIAGRAM ·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Sequence — AI Consultation (RAG)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10</a:t>
            </a:r>
          </a:p>
        </p:txBody>
      </p:sp>
      <p:pic>
        <p:nvPicPr>
          <p:cNvPr id="8" name="Picture 7" descr="dia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021" y="1463040"/>
            <a:ext cx="7935651" cy="4736592"/>
          </a:xfrm>
          <a:prstGeom prst="rect">
            <a:avLst/>
          </a:prstGeom>
          <a:ln w="12700">
            <a:solidFill>
              <a:srgbClr val="D6E6EE"/>
            </a:solidFill>
          </a:ln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6880"/>
                </a:solidFill>
                <a:latin typeface="Calibri"/>
              </a:rPr>
              <a:t>RAG chat flow: validate JWT → persist message → embed query → pgvector retrieval → Gemini generation → optional profile update.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DIAGRAM · STATE MACHINE (WEBCAM GATING)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Vision Module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11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63240"/>
            <a:ext cx="1051560" cy="64008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3017520"/>
            <a:ext cx="1554480" cy="73152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1554480" cy="7315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TooClose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480560"/>
            <a:ext cx="1554480" cy="7315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TooFar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017520"/>
            <a:ext cx="1554480" cy="777240"/>
          </a:xfrm>
          <a:prstGeom prst="roundRect">
            <a:avLst/>
          </a:prstGeom>
          <a:solidFill>
            <a:srgbClr val="238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OK
(40–80 cm)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417320"/>
            <a:ext cx="1691640" cy="6400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BothOpen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286000"/>
            <a:ext cx="1691640" cy="64008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LeftCovered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154680"/>
            <a:ext cx="1691640" cy="64008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RightCovered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023360"/>
            <a:ext cx="1691640" cy="64008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BothClosed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91640" y="3383280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91840" y="1920240"/>
            <a:ext cx="1005840" cy="1188720"/>
          </a:xfrm>
          <a:prstGeom prst="line">
            <a:avLst/>
          </a:prstGeom>
          <a:ln w="1778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17520" y="2276856"/>
            <a:ext cx="1554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B45309"/>
                </a:solidFill>
                <a:latin typeface="Calibri"/>
              </a:rPr>
              <a:t>face too large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91840" y="3657600"/>
            <a:ext cx="1005840" cy="1097280"/>
          </a:xfrm>
          <a:prstGeom prst="line">
            <a:avLst/>
          </a:prstGeom>
          <a:ln w="1778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17520" y="3968496"/>
            <a:ext cx="1554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B45309"/>
                </a:solidFill>
                <a:latin typeface="Calibri"/>
              </a:rPr>
              <a:t>face too small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03320" y="3383280"/>
            <a:ext cx="594360" cy="0"/>
          </a:xfrm>
          <a:prstGeom prst="line">
            <a:avLst/>
          </a:prstGeom>
          <a:ln w="1778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23260" y="3145536"/>
            <a:ext cx="1554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alibri"/>
              </a:rPr>
              <a:t>in range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5852160" y="1737360"/>
            <a:ext cx="1097280" cy="1371600"/>
          </a:xfrm>
          <a:prstGeom prst="line">
            <a:avLst/>
          </a:prstGeom>
          <a:ln w="17780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23560" y="2185415"/>
            <a:ext cx="1554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6B6D4"/>
                </a:solidFill>
                <a:latin typeface="Calibri"/>
              </a:rPr>
              <a:t>EAR &gt; thr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852160" y="2606040"/>
            <a:ext cx="1097280" cy="685800"/>
          </a:xfrm>
          <a:prstGeom prst="line">
            <a:avLst/>
          </a:prstGeom>
          <a:ln w="17780">
            <a:solidFill>
              <a:srgbClr val="0E7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23560" y="2711196"/>
            <a:ext cx="1554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E7490"/>
                </a:solidFill>
                <a:latin typeface="Calibri"/>
              </a:rPr>
              <a:t>hand 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52160" y="3474720"/>
            <a:ext cx="1097280" cy="0"/>
          </a:xfrm>
          <a:prstGeom prst="line">
            <a:avLst/>
          </a:prstGeom>
          <a:ln w="17780">
            <a:solidFill>
              <a:srgbClr val="0E7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23560" y="3236976"/>
            <a:ext cx="1554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E7490"/>
                </a:solidFill>
                <a:latin typeface="Calibri"/>
              </a:rPr>
              <a:t>hand 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2160" y="3657600"/>
            <a:ext cx="1097280" cy="685800"/>
          </a:xfrm>
          <a:prstGeom prst="line">
            <a:avLst/>
          </a:prstGeom>
          <a:ln w="17780">
            <a:solidFill>
              <a:srgbClr val="0E7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23560" y="3762756"/>
            <a:ext cx="1554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E7490"/>
                </a:solidFill>
                <a:latin typeface="Calibri"/>
              </a:rPr>
              <a:t>blink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772400" y="2057400"/>
            <a:ext cx="0" cy="228600"/>
          </a:xfrm>
          <a:prstGeom prst="line">
            <a:avLst/>
          </a:prstGeom>
          <a:ln w="15240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772400" y="2926080"/>
            <a:ext cx="0" cy="228600"/>
          </a:xfrm>
          <a:prstGeom prst="line">
            <a:avLst/>
          </a:prstGeom>
          <a:ln w="15240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55321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7490"/>
                </a:solidFill>
                <a:latin typeface="Calibri"/>
              </a:rPr>
              <a:t>Distance (pinhole model):   </a:t>
            </a:r>
            <a:r>
              <a:rPr sz="1250" b="0">
                <a:solidFill>
                  <a:srgbClr val="0F1B2D"/>
                </a:solidFill>
                <a:latin typeface="Calibri"/>
              </a:rPr>
              <a:t>focal = (face_px × known_cm) / real_face_cm     →     distance_cm = (real_face_cm × focal) / face_px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6880"/>
                </a:solidFill>
                <a:latin typeface="Calibri"/>
              </a:rPr>
              <a:t>MediaPipe Face Landmarker (live-stream) drives the gate; monocular eye-cover states enable per-eye testing. A test row only accepts input while state = 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DIAGRAM · USER JOURNEY &amp; PPI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User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170432" cy="8686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Landing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73352" y="2217420"/>
            <a:ext cx="64008" cy="0"/>
          </a:xfrm>
          <a:prstGeom prst="line">
            <a:avLst/>
          </a:prstGeom>
          <a:ln w="2032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41932" y="1783080"/>
            <a:ext cx="1170432" cy="86868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Sign up /
Login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12364" y="2217420"/>
            <a:ext cx="64008" cy="0"/>
          </a:xfrm>
          <a:prstGeom prst="line">
            <a:avLst/>
          </a:prstGeom>
          <a:ln w="2032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80944" y="1783080"/>
            <a:ext cx="1170432" cy="86868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51376" y="2217420"/>
            <a:ext cx="64008" cy="0"/>
          </a:xfrm>
          <a:prstGeom prst="line">
            <a:avLst/>
          </a:prstGeom>
          <a:ln w="2032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19956" y="1783080"/>
            <a:ext cx="1170432" cy="868680"/>
          </a:xfrm>
          <a:prstGeom prst="roundRect">
            <a:avLst/>
          </a:prstGeom>
          <a:solidFill>
            <a:srgbClr val="10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0388" y="2217420"/>
            <a:ext cx="64008" cy="0"/>
          </a:xfrm>
          <a:prstGeom prst="line">
            <a:avLst/>
          </a:prstGeom>
          <a:ln w="2032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58968" y="1783080"/>
            <a:ext cx="1170432" cy="868680"/>
          </a:xfrm>
          <a:prstGeom prst="roundRect">
            <a:avLst/>
          </a:prstGeom>
          <a:solidFill>
            <a:srgbClr val="238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PPI
Calibration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29400" y="2217420"/>
            <a:ext cx="64008" cy="0"/>
          </a:xfrm>
          <a:prstGeom prst="line">
            <a:avLst/>
          </a:prstGeom>
          <a:ln w="2032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97980" y="1783080"/>
            <a:ext cx="1170432" cy="86868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Webcam +
Distance gate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8412" y="2217420"/>
            <a:ext cx="64008" cy="0"/>
          </a:xfrm>
          <a:prstGeom prst="line">
            <a:avLst/>
          </a:prstGeom>
          <a:ln w="2032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36992" y="1783080"/>
            <a:ext cx="1170432" cy="8686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Run Test
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07424" y="2217420"/>
            <a:ext cx="64008" cy="0"/>
          </a:xfrm>
          <a:prstGeom prst="line">
            <a:avLst/>
          </a:prstGeom>
          <a:ln w="2032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76004" y="1783080"/>
            <a:ext cx="1170432" cy="86868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Results +
AI insight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346436" y="2217420"/>
            <a:ext cx="64008" cy="0"/>
          </a:xfrm>
          <a:prstGeom prst="line">
            <a:avLst/>
          </a:prstGeom>
          <a:ln w="2032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415016" y="1783080"/>
            <a:ext cx="1170432" cy="86868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PDF /
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200400"/>
            <a:ext cx="1463040" cy="68580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AI Consultant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24160" y="3200400"/>
            <a:ext cx="1280160" cy="6858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Profile /
Settings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0" y="2651760"/>
            <a:ext cx="3291840" cy="731520"/>
          </a:xfrm>
          <a:prstGeom prst="line">
            <a:avLst/>
          </a:prstGeom>
          <a:ln w="17780">
            <a:solidFill>
              <a:srgbClr val="6D28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486400" y="2651760"/>
            <a:ext cx="4937760" cy="731520"/>
          </a:xfrm>
          <a:prstGeom prst="line">
            <a:avLst/>
          </a:prstGeom>
          <a:ln w="17780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0" y="2743200"/>
            <a:ext cx="20116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56880"/>
                </a:solidFill>
                <a:latin typeface="Calibri"/>
              </a:rPr>
              <a:t>from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Calibri"/>
              </a:rPr>
              <a:t>PPI calibration pipeline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09160"/>
            <a:ext cx="1737360" cy="822960"/>
          </a:xfrm>
          <a:prstGeom prst="roundRect">
            <a:avLst/>
          </a:prstGeom>
          <a:solidFill>
            <a:srgbClr val="F1F7F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Slide box to
credit-card width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286000" y="5120640"/>
            <a:ext cx="91440" cy="0"/>
          </a:xfrm>
          <a:prstGeom prst="line">
            <a:avLst/>
          </a:prstGeom>
          <a:ln w="20320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377440" y="4709160"/>
            <a:ext cx="1737360" cy="822960"/>
          </a:xfrm>
          <a:prstGeom prst="roundRect">
            <a:avLst/>
          </a:prstGeom>
          <a:solidFill>
            <a:srgbClr val="F1F7F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boxWidth
(CSS px)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14800" y="5120640"/>
            <a:ext cx="91440" cy="0"/>
          </a:xfrm>
          <a:prstGeom prst="line">
            <a:avLst/>
          </a:prstGeom>
          <a:ln w="20320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206240" y="4709160"/>
            <a:ext cx="1737360" cy="822960"/>
          </a:xfrm>
          <a:prstGeom prst="roundRect">
            <a:avLst/>
          </a:prstGeom>
          <a:solidFill>
            <a:srgbClr val="F1F7F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PPI = boxWidth / 3.37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0" y="5120640"/>
            <a:ext cx="91440" cy="0"/>
          </a:xfrm>
          <a:prstGeom prst="line">
            <a:avLst/>
          </a:prstGeom>
          <a:ln w="20320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035040" y="4709160"/>
            <a:ext cx="1737360" cy="822960"/>
          </a:xfrm>
          <a:prstGeom prst="roundRect">
            <a:avLst/>
          </a:prstGeom>
          <a:solidFill>
            <a:srgbClr val="F1F7F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Letter mm
from 70 cm geometry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0" y="5120640"/>
            <a:ext cx="91440" cy="0"/>
          </a:xfrm>
          <a:prstGeom prst="line">
            <a:avLst/>
          </a:prstGeom>
          <a:ln w="20320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863840" y="4709160"/>
            <a:ext cx="1737360" cy="822960"/>
          </a:xfrm>
          <a:prstGeom prst="roundRect">
            <a:avLst/>
          </a:prstGeom>
          <a:solidFill>
            <a:srgbClr val="F1F7F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px = (mm/25.4) × PPI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01200" y="5120640"/>
            <a:ext cx="91440" cy="0"/>
          </a:xfrm>
          <a:prstGeom prst="line">
            <a:avLst/>
          </a:prstGeom>
          <a:ln w="20320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92640" y="4709160"/>
            <a:ext cx="1737360" cy="822960"/>
          </a:xfrm>
          <a:prstGeom prst="roundRect">
            <a:avLst/>
          </a:prstGeom>
          <a:solidFill>
            <a:srgbClr val="F1F7F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F1B2D"/>
                </a:solidFill>
                <a:latin typeface="Calibri"/>
              </a:rPr>
              <a:t>Correct visual
angle on screen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6880"/>
                </a:solidFill>
                <a:latin typeface="Calibri"/>
              </a:rPr>
              <a:t>Example: a card spanning 400 px → PPI ≈ 119 → a 5.8 mm letter at 70 cm renders at the correct pixel height for that exact display.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DESCRIPTION · TEST CATALOGUE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Vision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291840" cy="402336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554480"/>
            <a:ext cx="3383280" cy="402336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554480"/>
            <a:ext cx="4389120" cy="402336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Primary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56816"/>
            <a:ext cx="3291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F1B2D"/>
                </a:solidFill>
              </a:rPr>
              <a:t>Distance Eyesight 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956816"/>
            <a:ext cx="33832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0E7490"/>
                </a:solidFill>
                <a:latin typeface="Consolas"/>
              </a:rPr>
              <a:t>snellen-acuity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956816"/>
            <a:ext cx="4389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0F1B2D"/>
                </a:solidFill>
              </a:rPr>
              <a:t>Minus diopters (e.g. −1.50 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59152"/>
            <a:ext cx="329184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F1B2D"/>
                </a:solidFill>
              </a:rPr>
              <a:t>Near Eyesight No.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359152"/>
            <a:ext cx="338328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0E7490"/>
                </a:solidFill>
                <a:latin typeface="Consolas"/>
              </a:rPr>
              <a:t>jaeger-acuity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359152"/>
            <a:ext cx="438912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0F1B2D"/>
                </a:solidFill>
              </a:rPr>
              <a:t>Plus reading add (e.g. +1.50 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61488"/>
            <a:ext cx="3291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F1B2D"/>
                </a:solidFill>
              </a:rPr>
              <a:t>Full Refraction Battery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761488"/>
            <a:ext cx="33832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0E7490"/>
                </a:solidFill>
                <a:latin typeface="Consolas"/>
              </a:rPr>
              <a:t>refraction-battery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761488"/>
            <a:ext cx="4389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0F1B2D"/>
                </a:solidFill>
              </a:rPr>
              <a:t>Fused Snellen + Duochrome + Sim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63824"/>
            <a:ext cx="329184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F1B2D"/>
                </a:solidFill>
              </a:rPr>
              <a:t>Blur Screener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163824"/>
            <a:ext cx="338328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0E7490"/>
                </a:solidFill>
                <a:latin typeface="Consolas"/>
              </a:rPr>
              <a:t>blur-screener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163824"/>
            <a:ext cx="438912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0F1B2D"/>
                </a:solidFill>
              </a:rPr>
              <a:t>Routes user — no number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66160"/>
            <a:ext cx="3291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F1B2D"/>
                </a:solidFill>
              </a:rPr>
              <a:t>Landolt C Acuity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566160"/>
            <a:ext cx="33832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0E7490"/>
                </a:solidFill>
                <a:latin typeface="Consolas"/>
              </a:rPr>
              <a:t>landolt-acuity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566160"/>
            <a:ext cx="4389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0F1B2D"/>
                </a:solidFill>
              </a:rPr>
              <a:t>Precise acuity estimate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68496"/>
            <a:ext cx="329184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F1B2D"/>
                </a:solidFill>
              </a:rPr>
              <a:t>Contrast Sensitivity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3968496"/>
            <a:ext cx="338328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0E7490"/>
                </a:solidFill>
                <a:latin typeface="Consolas"/>
              </a:rPr>
              <a:t>contrast-sensitivity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968496"/>
            <a:ext cx="438912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0F1B2D"/>
                </a:solidFill>
              </a:rPr>
              <a:t>Contrast score (not diopters)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70832"/>
            <a:ext cx="3291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F1B2D"/>
                </a:solidFill>
              </a:rPr>
              <a:t>Colour Vision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4370832"/>
            <a:ext cx="33832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0E7490"/>
                </a:solidFill>
                <a:latin typeface="Consolas"/>
              </a:rPr>
              <a:t>color-vision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4370832"/>
            <a:ext cx="4389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0F1B2D"/>
                </a:solidFill>
              </a:rPr>
              <a:t>Red-green deficiency screen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73168"/>
            <a:ext cx="329184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F1B2D"/>
                </a:solidFill>
              </a:rPr>
              <a:t>Duochrome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4773168"/>
            <a:ext cx="338328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0E7490"/>
                </a:solidFill>
                <a:latin typeface="Consolas"/>
              </a:rPr>
              <a:t>duochrome-refinement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773168"/>
            <a:ext cx="438912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0F1B2D"/>
                </a:solidFill>
              </a:rPr>
              <a:t>±0.25 D sphere refinement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175504"/>
            <a:ext cx="3291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F1B2D"/>
                </a:solidFill>
              </a:rPr>
              <a:t>Refraction Simulator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5175504"/>
            <a:ext cx="33832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0E7490"/>
                </a:solidFill>
                <a:latin typeface="Consolas"/>
              </a:rPr>
              <a:t>refraction-simulator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5175504"/>
            <a:ext cx="4389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0F1B2D"/>
                </a:solidFill>
              </a:rPr>
              <a:t>Interactive clearer compare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577840"/>
            <a:ext cx="329184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F1B2D"/>
                </a:solidFill>
              </a:rPr>
              <a:t>Near–Far Switching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5577840"/>
            <a:ext cx="338328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0E7490"/>
                </a:solidFill>
                <a:latin typeface="Consolas"/>
              </a:rPr>
              <a:t>near-far-switching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577840"/>
            <a:ext cx="4389120" cy="402336"/>
          </a:xfrm>
          <a:prstGeom prst="rect">
            <a:avLst/>
          </a:prstGeom>
          <a:solidFill>
            <a:srgbClr val="F1F7FA"/>
          </a:solidFill>
          <a:ln w="9525">
            <a:solidFill>
              <a:srgbClr val="D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0F1B2D"/>
                </a:solidFill>
              </a:rPr>
              <a:t>Focus flexibility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089904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880"/>
                </a:solidFill>
                <a:latin typeface="Calibri"/>
              </a:rPr>
              <a:t>Tests are routed from the Blur Screener by reported problem (distance / near / both / unsure); battery tests fuse multiple signals into one estimate.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Findings &amp;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103120" cy="114300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6B6D4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56880"/>
                </a:solidFill>
                <a:latin typeface="Calibri"/>
              </a:rPr>
              <a:t>vision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1554480"/>
            <a:ext cx="2103120" cy="114300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1627632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38B6B"/>
                </a:solidFill>
                <a:latin typeface="Calibri"/>
              </a:rPr>
              <a:t>40–80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221284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56880"/>
                </a:solidFill>
                <a:latin typeface="Calibri"/>
              </a:rPr>
              <a:t>cm gating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1183" y="1554480"/>
            <a:ext cx="2103120" cy="114300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3" y="1627632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6D28D9"/>
                </a:solidFill>
                <a:latin typeface="Calibri"/>
              </a:rPr>
              <a:t>768-d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3" y="221284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56880"/>
                </a:solidFill>
                <a:latin typeface="Calibri"/>
              </a:rPr>
              <a:t>RAG embeddings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77455" y="1554480"/>
            <a:ext cx="2103120" cy="114300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7455" y="1627632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B45309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5" y="221284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56880"/>
                </a:solidFill>
                <a:latin typeface="Calibri"/>
              </a:rPr>
              <a:t>languages (EN/UR)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3728" y="1554480"/>
            <a:ext cx="2103120" cy="114300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627632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E749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21284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56880"/>
                </a:solidFill>
                <a:latin typeface="Calibri"/>
              </a:rPr>
              <a:t>live deployments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Calibri"/>
              </a:rPr>
              <a:t>What works well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6B6D4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End-to-end live</a:t>
            </a:r>
            <a:r>
              <a:rPr sz="1100" b="0">
                <a:solidFill>
                  <a:srgbClr val="556880"/>
                </a:solidFill>
              </a:rPr>
              <a:t>  —  deployed FE (Vercel) + API (HF Spaces) + DB (Supabase)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6B6D4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Real-time gating</a:t>
            </a:r>
            <a:r>
              <a:rPr sz="1100" b="0">
                <a:solidFill>
                  <a:srgbClr val="556880"/>
                </a:solidFill>
              </a:rPr>
              <a:t>  —  WebSocket face/distance/eye-state at interactive rates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6B6D4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Calibration works</a:t>
            </a:r>
            <a:r>
              <a:rPr sz="1100" b="0">
                <a:solidFill>
                  <a:srgbClr val="556880"/>
                </a:solidFill>
              </a:rPr>
              <a:t>  —  credit-card PPI yields correct letter sizes per display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6B6D4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Fused estimates</a:t>
            </a:r>
            <a:r>
              <a:rPr sz="1100" b="0">
                <a:solidFill>
                  <a:srgbClr val="556880"/>
                </a:solidFill>
              </a:rPr>
              <a:t>  —  battery merges Snellen + duochrome + simulator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6B6D4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AI grounded</a:t>
            </a:r>
            <a:r>
              <a:rPr sz="1100" b="0">
                <a:solidFill>
                  <a:srgbClr val="556880"/>
                </a:solidFill>
              </a:rPr>
              <a:t>  —  RAG over vision_knowledge keeps answers on-topic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6B6D4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Reports</a:t>
            </a:r>
            <a:r>
              <a:rPr sz="1100" b="0">
                <a:solidFill>
                  <a:srgbClr val="556880"/>
                </a:solidFill>
              </a:rPr>
              <a:t>  —  downloadable PDF + per-user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260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Calibri"/>
              </a:rPr>
              <a:t>Limits &amp; honest caveats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918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5309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Screening, not Rx</a:t>
            </a:r>
            <a:r>
              <a:rPr sz="1100" b="0">
                <a:solidFill>
                  <a:srgbClr val="556880"/>
                </a:solidFill>
              </a:rPr>
              <a:t>  —  approximate numbers — never a clinical prescription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5309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Lighting / webcam</a:t>
            </a:r>
            <a:r>
              <a:rPr sz="1100" b="0">
                <a:solidFill>
                  <a:srgbClr val="556880"/>
                </a:solidFill>
              </a:rPr>
              <a:t>  —  accuracy depends on room light and camera quality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5309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User technique</a:t>
            </a:r>
            <a:r>
              <a:rPr sz="1100" b="0">
                <a:solidFill>
                  <a:srgbClr val="556880"/>
                </a:solidFill>
              </a:rPr>
              <a:t>  —  distance &amp; eye-cover compliance affect results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5309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Cold starts</a:t>
            </a:r>
            <a:r>
              <a:rPr sz="1100" b="0">
                <a:solidFill>
                  <a:srgbClr val="556880"/>
                </a:solidFill>
              </a:rPr>
              <a:t>  —  HF Space may sleep; first WS connect can lag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5309"/>
                </a:solidFill>
              </a:rPr>
              <a:t>›  </a:t>
            </a:r>
            <a:r>
              <a:rPr sz="1200" b="1">
                <a:solidFill>
                  <a:srgbClr val="0F1B2D"/>
                </a:solidFill>
              </a:rPr>
              <a:t>No astigmatism axis</a:t>
            </a:r>
            <a:r>
              <a:rPr sz="1100" b="0">
                <a:solidFill>
                  <a:srgbClr val="556880"/>
                </a:solidFill>
              </a:rPr>
              <a:t>  —  cylinder is screened, not precisely measured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SCREENSHOTS · LIVE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Product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15</a:t>
            </a:r>
          </a:p>
        </p:txBody>
      </p:sp>
      <p:pic>
        <p:nvPicPr>
          <p:cNvPr id="8" name="Picture 7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75904"/>
            <a:ext cx="5532120" cy="3580511"/>
          </a:xfrm>
          <a:prstGeom prst="rect">
            <a:avLst/>
          </a:prstGeom>
          <a:ln w="15875">
            <a:solidFill>
              <a:srgbClr val="D6E6EE"/>
            </a:solidFill>
          </a:ln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02920" y="5650992"/>
            <a:ext cx="5532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56880"/>
                </a:solidFill>
                <a:latin typeface="Calibri"/>
              </a:rPr>
              <a:t>Landing — “See Clearly. Live Brightly.”</a:t>
            </a:r>
          </a:p>
        </p:txBody>
      </p:sp>
      <p:pic>
        <p:nvPicPr>
          <p:cNvPr id="10" name="Picture 9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1435"/>
            <a:ext cx="5486400" cy="3929448"/>
          </a:xfrm>
          <a:prstGeom prst="rect">
            <a:avLst/>
          </a:prstGeom>
          <a:ln w="15875">
            <a:solidFill>
              <a:srgbClr val="D6E6EE"/>
            </a:solidFill>
          </a:ln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6263640" y="565099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56880"/>
                </a:solidFill>
                <a:latin typeface="Calibri"/>
              </a:rPr>
              <a:t>Dashboard — scores, history &amp;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533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6880"/>
                </a:solidFill>
                <a:latin typeface="Calibri"/>
              </a:rPr>
              <a:t>Captured live from www.visuar-web.app — the dashboard surfaces latest/average scores, improvement, test history and PDF report download.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SCREENSHOTS · AUTH, PLANS &amp; LIVE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More Screens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16</a:t>
            </a:r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46020"/>
            <a:ext cx="3657600" cy="2286000"/>
          </a:xfrm>
          <a:prstGeom prst="rect">
            <a:avLst/>
          </a:prstGeom>
          <a:ln w="15875">
            <a:solidFill>
              <a:srgbClr val="D6E6EE"/>
            </a:solidFill>
          </a:ln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02920" y="568756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56880"/>
                </a:solidFill>
                <a:latin typeface="Calibri"/>
              </a:rPr>
              <a:t>Login</a:t>
            </a:r>
          </a:p>
        </p:txBody>
      </p:sp>
      <p:pic>
        <p:nvPicPr>
          <p:cNvPr id="10" name="Picture 9" descr="pri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175216"/>
            <a:ext cx="3429000" cy="2827606"/>
          </a:xfrm>
          <a:prstGeom prst="rect">
            <a:avLst/>
          </a:prstGeom>
          <a:ln w="15875">
            <a:solidFill>
              <a:srgbClr val="D6E6EE"/>
            </a:solidFill>
          </a:ln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4343400" y="5687568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56880"/>
                </a:solidFill>
                <a:latin typeface="Calibri"/>
              </a:rPr>
              <a:t>Pricing — Free / Basic / Pro</a:t>
            </a:r>
          </a:p>
        </p:txBody>
      </p:sp>
      <p:pic>
        <p:nvPicPr>
          <p:cNvPr id="12" name="Picture 11" descr="backend_do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325" y="1554480"/>
            <a:ext cx="1964948" cy="4069080"/>
          </a:xfrm>
          <a:prstGeom prst="rect">
            <a:avLst/>
          </a:prstGeom>
          <a:ln w="15875">
            <a:solidFill>
              <a:srgbClr val="D6E6EE"/>
            </a:solidFill>
          </a:ln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7955279" y="5687568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56880"/>
                </a:solidFill>
                <a:latin typeface="Calibri"/>
              </a:rPr>
              <a:t>Live FastAPI — Swagger /docs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9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6880"/>
                </a:solidFill>
                <a:latin typeface="Calibri"/>
              </a:rPr>
              <a:t>Stripe-backed plan tiers, Supabase auth, and 25+ documented endpoints live on Hugging Face Spaces.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6B6D4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B2D"/>
                </a:solidFill>
                <a:latin typeface="Calibri"/>
              </a:rPr>
              <a:t>Future Plans &amp;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7135" y="64373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7B6C4"/>
                </a:solidFill>
                <a:latin typeface="Calibri"/>
              </a:rPr>
              <a:t>VISUAR  · 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9748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82296" cy="1783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1965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Clinical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21992"/>
            <a:ext cx="2331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Benchmark estimates against optometrist measurements; publish accuracy bands.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691640"/>
            <a:ext cx="269748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691640"/>
            <a:ext cx="82296" cy="1783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81965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Astigmatism axis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221992"/>
            <a:ext cx="2331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Move from screening the fan to measuring cylinder power &amp; axis precisely.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691640"/>
            <a:ext cx="269748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691640"/>
            <a:ext cx="82296" cy="1783080"/>
          </a:xfrm>
          <a:prstGeom prst="rect">
            <a:avLst/>
          </a:prstGeom>
          <a:solidFill>
            <a:srgbClr val="238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81965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Auto distance calib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221992"/>
            <a:ext cx="2331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Replace manual focal calibration with on-the-fly iris-diameter scaling.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691640"/>
            <a:ext cx="269748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691640"/>
            <a:ext cx="82296" cy="1783080"/>
          </a:xfrm>
          <a:prstGeom prst="rect">
            <a:avLst/>
          </a:prstGeom>
          <a:solidFill>
            <a:srgbClr val="10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81965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Native mobile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2221992"/>
            <a:ext cx="2331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Phone front-camera screening with ARKit/ARCore depth for distance.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269748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82296" cy="17830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785615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Longitudinal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187952"/>
            <a:ext cx="2331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Trend charts + alerts when a user's numbers drift over time.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4992" y="3657600"/>
            <a:ext cx="269748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64992" y="3657600"/>
            <a:ext cx="82296" cy="17830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3785615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Tele-optometry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187952"/>
            <a:ext cx="2331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One-tap share of PDF report + booking with a local eye-care professional.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3657600"/>
            <a:ext cx="269748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1344" y="3657600"/>
            <a:ext cx="82296" cy="1783080"/>
          </a:xfrm>
          <a:prstGeom prst="rect">
            <a:avLst/>
          </a:prstGeom>
          <a:solidFill>
            <a:srgbClr val="862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3785615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Expanded RAG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187952"/>
            <a:ext cx="2331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Larger, citation-backed vision knowledge base for the AI consultant.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7696" y="3657600"/>
            <a:ext cx="2697480" cy="1783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6E6EE"/>
            </a:solidFill>
          </a:ln>
          <a:effectLst/>
          <a:effectLst>
            <a:outerShdw blurRad="90000" dist="40000" dir="5400000" rotWithShape="0">
              <a:srgbClr val="0B2233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97696" y="3657600"/>
            <a:ext cx="82296" cy="178308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98864" y="3785615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Calibri"/>
              </a:rPr>
              <a:t>Accessibility &amp; i18n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98864" y="4187952"/>
            <a:ext cx="2331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880"/>
                </a:solidFill>
                <a:latin typeface="Calibri"/>
              </a:rPr>
              <a:t>Screen-reader support, more languages, high-contrast modes.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490"/>
                </a:solidFill>
                <a:latin typeface="Calibri"/>
              </a:rPr>
              <a:t>North star:  </a:t>
            </a:r>
            <a:r>
              <a:rPr sz="1300" b="0">
                <a:solidFill>
                  <a:srgbClr val="334155"/>
                </a:solidFill>
                <a:latin typeface="Calibri"/>
              </a:rPr>
              <a:t>evolve from an honest screening tool into a validated, longitudinal vision-care companion that connects users to professionals.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914400"/>
            <a:ext cx="3657600" cy="3657600"/>
          </a:xfrm>
          <a:prstGeom prst="ellipse">
            <a:avLst/>
          </a:prstGeom>
          <a:solidFill>
            <a:srgbClr val="0E749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4389120"/>
            <a:ext cx="2560320" cy="2560320"/>
          </a:xfrm>
          <a:prstGeom prst="ellipse">
            <a:avLst/>
          </a:prstGeom>
          <a:solidFill>
            <a:srgbClr val="0E749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Calibri"/>
              </a:rPr>
              <a:t>VISUAR — See Beyond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FD2E0"/>
                </a:solidFill>
                <a:latin typeface="Calibri"/>
              </a:rPr>
              <a:t>Screen-based vision screening that is approximate by design, real-time, and always points users toward professional care.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920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892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E8F2"/>
                </a:solidFill>
                <a:latin typeface="Calibri"/>
              </a:rPr>
              <a:t>www.visuar-web.app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760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527608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E8F2"/>
                </a:solidFill>
                <a:latin typeface="Calibri"/>
              </a:rPr>
              <a:t>vinabi-visuar-backend.hf.space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601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66013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E8F2"/>
                </a:solidFill>
                <a:latin typeface="Calibri"/>
              </a:rPr>
              <a:t>React · FastAPI · MediaPipe · Supabase · 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